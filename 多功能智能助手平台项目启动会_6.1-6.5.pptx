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48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8191500" y="-1095375"/>
            <a:ext cx="4381500" cy="4381500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Ellipse 5"/>
          <p:cNvSpPr/>
          <p:nvPr/>
        </p:nvSpPr>
        <p:spPr>
          <a:xfrm>
            <a:off x="9144000" y="-142875"/>
            <a:ext cx="2476500" cy="2476500"/>
          </a:xfrm>
          <a:prstGeom prst="ellipse">
            <a:avLst/>
          </a:prstGeom>
          <a:solidFill>
            <a:srgbClr val="0891B2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03898" y="830104"/>
            <a:ext cx="213501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6/1 - 6/5 项目启动会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8655" y="1321118"/>
            <a:ext cx="5592175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多功能智能助手平台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282" y="2181701"/>
            <a:ext cx="70547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零基础项目实训：从环境安装到框架选型与可演示 Demo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238500"/>
            <a:ext cx="5334000" cy="933450"/>
          </a:xfrm>
          <a:prstGeom prst="roundRect">
            <a:avLst>
              <a:gd name="adj" fmla="val 10204"/>
            </a:avLst>
          </a:prstGeom>
          <a:solidFill>
            <a:srgbClr val="F4F7FB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007745" y="34604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本周目标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7745" y="3822382"/>
            <a:ext cx="55866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每组讨论框架方案，并完成一个可运行的网页工具集。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6305550"/>
            <a:ext cx="10839450" cy="9525"/>
          </a:xfrm>
          <a:custGeom>
            <a:avLst/>
            <a:gdLst/>
            <a:ahLst/>
            <a:cxnLst/>
            <a:rect l="l" t="t" r="r" b="b"/>
            <a:pathLst>
              <a:path w="10839450" h="9525">
                <a:moveTo>
                  <a:pt x="0" y="0"/>
                </a:moveTo>
                <a:lnTo>
                  <a:pt x="1083945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10565" y="64779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课程安排说明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50965" y="64779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学习方式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这一周怎么学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307657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先跑通，再理解；先比较，再选型。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学习方式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02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723900" y="2095500"/>
            <a:ext cx="66675" cy="2381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948690" y="2301240"/>
            <a:ext cx="10916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从 0 起步</a:t>
            </a:r>
          </a:p>
        </p:txBody>
      </p:sp>
      <p:sp>
        <p:nvSpPr>
          <p:cNvPr id="14" name="Ellipse 14"/>
          <p:cNvSpPr/>
          <p:nvPr/>
        </p:nvSpPr>
        <p:spPr>
          <a:xfrm>
            <a:off x="987742" y="2749868"/>
            <a:ext cx="81915" cy="8191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240155" y="2711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不默认会编程</a:t>
            </a:r>
          </a:p>
        </p:txBody>
      </p:sp>
      <p:sp>
        <p:nvSpPr>
          <p:cNvPr id="16" name="Ellipse 16"/>
          <p:cNvSpPr/>
          <p:nvPr/>
        </p:nvSpPr>
        <p:spPr>
          <a:xfrm>
            <a:off x="987742" y="3016568"/>
            <a:ext cx="81915" cy="8191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240155" y="29784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先装工具和跑例子</a:t>
            </a:r>
          </a:p>
        </p:txBody>
      </p:sp>
      <p:sp>
        <p:nvSpPr>
          <p:cNvPr id="18" name="Ellipse 18"/>
          <p:cNvSpPr/>
          <p:nvPr/>
        </p:nvSpPr>
        <p:spPr>
          <a:xfrm>
            <a:off x="987742" y="3283268"/>
            <a:ext cx="81915" cy="8191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240155" y="32451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遇到问题当天解决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24375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4524375" y="2095500"/>
            <a:ext cx="66675" cy="238125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4749165" y="23012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小步交付</a:t>
            </a:r>
          </a:p>
        </p:txBody>
      </p:sp>
      <p:sp>
        <p:nvSpPr>
          <p:cNvPr id="23" name="Ellipse 23"/>
          <p:cNvSpPr/>
          <p:nvPr/>
        </p:nvSpPr>
        <p:spPr>
          <a:xfrm>
            <a:off x="4788218" y="27498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5040630" y="27117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每天都有可检查产物</a:t>
            </a:r>
          </a:p>
        </p:txBody>
      </p:sp>
      <p:sp>
        <p:nvSpPr>
          <p:cNvPr id="25" name="Ellipse 25"/>
          <p:cNvSpPr/>
          <p:nvPr/>
        </p:nvSpPr>
        <p:spPr>
          <a:xfrm>
            <a:off x="4788218" y="30165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5040630" y="29784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功能宁可小也要能跑</a:t>
            </a:r>
          </a:p>
        </p:txBody>
      </p:sp>
      <p:sp>
        <p:nvSpPr>
          <p:cNvPr id="27" name="Ellipse 27"/>
          <p:cNvSpPr/>
          <p:nvPr/>
        </p:nvSpPr>
        <p:spPr>
          <a:xfrm>
            <a:off x="4788218" y="32832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5040630" y="32451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选型服务于交付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324850" y="20955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8324850" y="2095500"/>
            <a:ext cx="66675" cy="2381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549640" y="23012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团队协作</a:t>
            </a:r>
          </a:p>
        </p:txBody>
      </p:sp>
      <p:sp>
        <p:nvSpPr>
          <p:cNvPr id="32" name="Ellipse 32"/>
          <p:cNvSpPr/>
          <p:nvPr/>
        </p:nvSpPr>
        <p:spPr>
          <a:xfrm>
            <a:off x="8588692" y="2749868"/>
            <a:ext cx="81915" cy="8191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841105" y="2711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每人负责一块</a:t>
            </a:r>
          </a:p>
        </p:txBody>
      </p:sp>
      <p:sp>
        <p:nvSpPr>
          <p:cNvPr id="34" name="Ellipse 34"/>
          <p:cNvSpPr/>
          <p:nvPr/>
        </p:nvSpPr>
        <p:spPr>
          <a:xfrm>
            <a:off x="8588692" y="3016568"/>
            <a:ext cx="81915" cy="8191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8841105" y="29784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用 Git 记录过程</a:t>
            </a:r>
          </a:p>
        </p:txBody>
      </p:sp>
      <p:sp>
        <p:nvSpPr>
          <p:cNvPr id="36" name="Ellipse 36"/>
          <p:cNvSpPr/>
          <p:nvPr/>
        </p:nvSpPr>
        <p:spPr>
          <a:xfrm>
            <a:off x="8588692" y="3283268"/>
            <a:ext cx="81915" cy="8191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8841105" y="3245168"/>
            <a:ext cx="17805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最后合并成一个 Demo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504950" y="5095875"/>
            <a:ext cx="9182100" cy="53340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2609612" y="5260658"/>
            <a:ext cx="69727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本周不是考谁基础最好，而是让每个人完成一次真实项目协作闭环。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本周目标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22852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一句话目标</a:t>
            </a:r>
          </a:p>
        </p:txBody>
      </p:sp>
      <p:sp>
        <p:nvSpPr>
          <p:cNvPr id="7" name="Line 7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本周目标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03 / 14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19150" y="1962150"/>
            <a:ext cx="10553700" cy="102870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819150" y="1962150"/>
            <a:ext cx="85725" cy="1028700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073468" y="2323624"/>
            <a:ext cx="9176954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完成一个可演示的 AI 工具集 Demo + 留下一份框架选型说明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28700" y="3619500"/>
            <a:ext cx="4381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1028700" y="3619500"/>
            <a:ext cx="66675" cy="160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253490" y="38252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项目产出</a:t>
            </a:r>
          </a:p>
        </p:txBody>
      </p:sp>
      <p:sp>
        <p:nvSpPr>
          <p:cNvPr id="16" name="Ellipse 16"/>
          <p:cNvSpPr/>
          <p:nvPr/>
        </p:nvSpPr>
        <p:spPr>
          <a:xfrm>
            <a:off x="1292542" y="4273868"/>
            <a:ext cx="81915" cy="8191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544955" y="42357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可运行网页工具集</a:t>
            </a:r>
          </a:p>
        </p:txBody>
      </p:sp>
      <p:sp>
        <p:nvSpPr>
          <p:cNvPr id="18" name="Ellipse 18"/>
          <p:cNvSpPr/>
          <p:nvPr/>
        </p:nvSpPr>
        <p:spPr>
          <a:xfrm>
            <a:off x="1292542" y="4540568"/>
            <a:ext cx="81915" cy="8191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544955" y="4502468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至少 1-2 个小工具可演示</a:t>
            </a:r>
          </a:p>
        </p:txBody>
      </p:sp>
      <p:sp>
        <p:nvSpPr>
          <p:cNvPr id="20" name="Ellipse 20"/>
          <p:cNvSpPr/>
          <p:nvPr/>
        </p:nvSpPr>
        <p:spPr>
          <a:xfrm>
            <a:off x="1292542" y="4807268"/>
            <a:ext cx="81915" cy="8191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544955" y="4769168"/>
            <a:ext cx="17985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README 与提示词集合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762750" y="3619500"/>
            <a:ext cx="4381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6762750" y="3619500"/>
            <a:ext cx="66675" cy="16002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987540" y="38252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学习产出</a:t>
            </a:r>
          </a:p>
        </p:txBody>
      </p:sp>
      <p:sp>
        <p:nvSpPr>
          <p:cNvPr id="25" name="Ellipse 25"/>
          <p:cNvSpPr/>
          <p:nvPr/>
        </p:nvSpPr>
        <p:spPr>
          <a:xfrm>
            <a:off x="7026592" y="42738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7279005" y="4235768"/>
            <a:ext cx="2275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会安装和使用 VS Code / Git</a:t>
            </a:r>
          </a:p>
        </p:txBody>
      </p:sp>
      <p:sp>
        <p:nvSpPr>
          <p:cNvPr id="27" name="Ellipse 27"/>
          <p:cNvSpPr/>
          <p:nvPr/>
        </p:nvSpPr>
        <p:spPr>
          <a:xfrm>
            <a:off x="7026592" y="45405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279005" y="45024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会比较框架并说明理由</a:t>
            </a:r>
          </a:p>
        </p:txBody>
      </p:sp>
      <p:sp>
        <p:nvSpPr>
          <p:cNvPr id="29" name="Ellipse 29"/>
          <p:cNvSpPr/>
          <p:nvPr/>
        </p:nvSpPr>
        <p:spPr>
          <a:xfrm>
            <a:off x="7026592" y="48072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7279005" y="4769168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能讲清楚自己负责的功能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项目说明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我们要做什么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50623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一个网页入口，多个简单 AI 工具，框架由小组讨论后确定。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项目说明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04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2095500"/>
            <a:ext cx="10477500" cy="876300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663535" y="2368391"/>
            <a:ext cx="8864931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多功能智能助手平台 = Web 页面 + 工具菜单 + 若干 AI 小功能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19150" y="3524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llipse 14"/>
          <p:cNvSpPr/>
          <p:nvPr/>
        </p:nvSpPr>
        <p:spPr>
          <a:xfrm>
            <a:off x="1009650" y="3724275"/>
            <a:ext cx="266700" cy="266700"/>
          </a:xfrm>
          <a:prstGeom prst="ellipse">
            <a:avLst/>
          </a:prstGeom>
          <a:solidFill>
            <a:srgbClr val="2563EB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llipse 15"/>
          <p:cNvSpPr/>
          <p:nvPr/>
        </p:nvSpPr>
        <p:spPr>
          <a:xfrm>
            <a:off x="1076325" y="3790950"/>
            <a:ext cx="133350" cy="1333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351598" y="3773329"/>
            <a:ext cx="88011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简历优化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3460" y="429006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输入简历片段，输出修改建议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4412" y="45648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先做简单版本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971800" y="3524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Ellipse 20"/>
          <p:cNvSpPr/>
          <p:nvPr/>
        </p:nvSpPr>
        <p:spPr>
          <a:xfrm>
            <a:off x="3162300" y="3724275"/>
            <a:ext cx="266700" cy="266700"/>
          </a:xfrm>
          <a:prstGeom prst="ellipse">
            <a:avLst/>
          </a:prstGeom>
          <a:solidFill>
            <a:srgbClr val="15803D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Ellipse 21"/>
          <p:cNvSpPr/>
          <p:nvPr/>
        </p:nvSpPr>
        <p:spPr>
          <a:xfrm>
            <a:off x="3228975" y="3790950"/>
            <a:ext cx="133350" cy="13335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3504248" y="3773329"/>
            <a:ext cx="88011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文案生成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66110" y="429006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输入场景，生成短文案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67062" y="45648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先做简单版本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124450" y="3524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Ellipse 26"/>
          <p:cNvSpPr/>
          <p:nvPr/>
        </p:nvSpPr>
        <p:spPr>
          <a:xfrm>
            <a:off x="5314950" y="3724275"/>
            <a:ext cx="266700" cy="266700"/>
          </a:xfrm>
          <a:prstGeom prst="ellipse">
            <a:avLst/>
          </a:prstGeom>
          <a:solidFill>
            <a:srgbClr val="0891B2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Ellipse 27"/>
          <p:cNvSpPr/>
          <p:nvPr/>
        </p:nvSpPr>
        <p:spPr>
          <a:xfrm>
            <a:off x="5381625" y="3790950"/>
            <a:ext cx="133350" cy="13335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5656898" y="3773329"/>
            <a:ext cx="88011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翻译助手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18760" y="4290060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中英互译或润色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19712" y="45648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先做简单版本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77100" y="3524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Ellipse 32"/>
          <p:cNvSpPr/>
          <p:nvPr/>
        </p:nvSpPr>
        <p:spPr>
          <a:xfrm>
            <a:off x="7467600" y="3724275"/>
            <a:ext cx="266700" cy="266700"/>
          </a:xfrm>
          <a:prstGeom prst="ellipse">
            <a:avLst/>
          </a:prstGeom>
          <a:solidFill>
            <a:srgbClr val="C2410C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Ellipse 33"/>
          <p:cNvSpPr/>
          <p:nvPr/>
        </p:nvSpPr>
        <p:spPr>
          <a:xfrm>
            <a:off x="7534275" y="3790950"/>
            <a:ext cx="133350" cy="13335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809548" y="3773329"/>
            <a:ext cx="86960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PDF 摘要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71410" y="4290060"/>
            <a:ext cx="17826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上传示例 PDF，输出要点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72362" y="45648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先做简单版本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429750" y="3524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Ellipse 38"/>
          <p:cNvSpPr/>
          <p:nvPr/>
        </p:nvSpPr>
        <p:spPr>
          <a:xfrm>
            <a:off x="9620250" y="3724275"/>
            <a:ext cx="266700" cy="26670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Ellipse 39"/>
          <p:cNvSpPr/>
          <p:nvPr/>
        </p:nvSpPr>
        <p:spPr>
          <a:xfrm>
            <a:off x="9686925" y="3790950"/>
            <a:ext cx="133350" cy="1333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9962198" y="3773329"/>
            <a:ext cx="86960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CSV 预览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24060" y="429006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读取表格，做简单说明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25012" y="45648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先做简单版本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73820" y="5460682"/>
            <a:ext cx="56443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每组不需要全做，优先选择 2-3 个最容易跑通的功能。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范围边界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449056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本周做什么，不做什么</a:t>
            </a:r>
          </a:p>
        </p:txBody>
      </p:sp>
      <p:sp>
        <p:nvSpPr>
          <p:cNvPr id="7" name="Line 7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范围边界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05 / 14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19150" y="2095500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819150" y="2095500"/>
            <a:ext cx="66675" cy="28575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042988" y="2293144"/>
            <a:ext cx="136028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本周重点做</a:t>
            </a:r>
          </a:p>
        </p:txBody>
      </p:sp>
      <p:sp>
        <p:nvSpPr>
          <p:cNvPr id="13" name="Ellipse 13"/>
          <p:cNvSpPr/>
          <p:nvPr/>
        </p:nvSpPr>
        <p:spPr>
          <a:xfrm>
            <a:off x="1082992" y="27498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334452" y="2703671"/>
            <a:ext cx="26395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IDE / Python / Git 安装与检查</a:t>
            </a:r>
          </a:p>
        </p:txBody>
      </p:sp>
      <p:sp>
        <p:nvSpPr>
          <p:cNvPr id="15" name="Ellipse 15"/>
          <p:cNvSpPr/>
          <p:nvPr/>
        </p:nvSpPr>
        <p:spPr>
          <a:xfrm>
            <a:off x="1082992" y="3045142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334452" y="2998946"/>
            <a:ext cx="215496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Web 框架候选比较与选择</a:t>
            </a:r>
          </a:p>
        </p:txBody>
      </p:sp>
      <p:sp>
        <p:nvSpPr>
          <p:cNvPr id="17" name="Ellipse 17"/>
          <p:cNvSpPr/>
          <p:nvPr/>
        </p:nvSpPr>
        <p:spPr>
          <a:xfrm>
            <a:off x="1082992" y="334041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1334452" y="3294221"/>
            <a:ext cx="174640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团队分工和仓库协作</a:t>
            </a:r>
          </a:p>
        </p:txBody>
      </p:sp>
      <p:sp>
        <p:nvSpPr>
          <p:cNvPr id="19" name="Ellipse 19"/>
          <p:cNvSpPr/>
          <p:nvPr/>
        </p:nvSpPr>
        <p:spPr>
          <a:xfrm>
            <a:off x="1082992" y="3635692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334452" y="3589496"/>
            <a:ext cx="187942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1-2 个简单小功能开发</a:t>
            </a:r>
          </a:p>
        </p:txBody>
      </p:sp>
      <p:sp>
        <p:nvSpPr>
          <p:cNvPr id="21" name="Ellipse 21"/>
          <p:cNvSpPr/>
          <p:nvPr/>
        </p:nvSpPr>
        <p:spPr>
          <a:xfrm>
            <a:off x="1082992" y="3930968"/>
            <a:ext cx="81915" cy="81915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334452" y="3884771"/>
            <a:ext cx="260151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README、测试清单和演示准备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19850" y="2095500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24"/>
          <p:cNvSpPr/>
          <p:nvPr/>
        </p:nvSpPr>
        <p:spPr>
          <a:xfrm>
            <a:off x="6419850" y="2095500"/>
            <a:ext cx="66675" cy="28575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6643688" y="2293144"/>
            <a:ext cx="162282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本周暂不追求</a:t>
            </a:r>
          </a:p>
        </p:txBody>
      </p:sp>
      <p:sp>
        <p:nvSpPr>
          <p:cNvPr id="26" name="Ellipse 26"/>
          <p:cNvSpPr/>
          <p:nvPr/>
        </p:nvSpPr>
        <p:spPr>
          <a:xfrm>
            <a:off x="6683692" y="2749868"/>
            <a:ext cx="81915" cy="81915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6935152" y="2703671"/>
            <a:ext cx="174640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复杂模型训练或调参</a:t>
            </a:r>
          </a:p>
        </p:txBody>
      </p:sp>
      <p:sp>
        <p:nvSpPr>
          <p:cNvPr id="28" name="Ellipse 28"/>
          <p:cNvSpPr/>
          <p:nvPr/>
        </p:nvSpPr>
        <p:spPr>
          <a:xfrm>
            <a:off x="6683692" y="3045142"/>
            <a:ext cx="81915" cy="81915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6935152" y="2998946"/>
            <a:ext cx="13663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完整商业级系统</a:t>
            </a:r>
          </a:p>
        </p:txBody>
      </p:sp>
      <p:sp>
        <p:nvSpPr>
          <p:cNvPr id="30" name="Ellipse 30"/>
          <p:cNvSpPr/>
          <p:nvPr/>
        </p:nvSpPr>
        <p:spPr>
          <a:xfrm>
            <a:off x="6683692" y="3340418"/>
            <a:ext cx="81915" cy="81915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935152" y="3294221"/>
            <a:ext cx="1936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复杂权限和数据库设计</a:t>
            </a:r>
          </a:p>
        </p:txBody>
      </p:sp>
      <p:sp>
        <p:nvSpPr>
          <p:cNvPr id="32" name="Ellipse 32"/>
          <p:cNvSpPr/>
          <p:nvPr/>
        </p:nvSpPr>
        <p:spPr>
          <a:xfrm>
            <a:off x="6683692" y="3635692"/>
            <a:ext cx="81915" cy="81915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6935152" y="3589496"/>
            <a:ext cx="155638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前后端分离大工程</a:t>
            </a:r>
          </a:p>
        </p:txBody>
      </p:sp>
      <p:sp>
        <p:nvSpPr>
          <p:cNvPr id="34" name="Ellipse 34"/>
          <p:cNvSpPr/>
          <p:nvPr/>
        </p:nvSpPr>
        <p:spPr>
          <a:xfrm>
            <a:off x="6683692" y="3930968"/>
            <a:ext cx="81915" cy="81915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6935152" y="3884771"/>
            <a:ext cx="155638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一次性做很多功能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619250" y="5410200"/>
            <a:ext cx="8953500" cy="4572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3021068" y="5543550"/>
            <a:ext cx="61498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验收看“能选、能跑、能讲、能协作”，不是看技术栈越复杂越好。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工具环境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316739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基础工具先装好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34566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框架可以讨论，但基础工具必须先统一。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工具环境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06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81050" y="2190750"/>
            <a:ext cx="1809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968692" y="2433161"/>
            <a:ext cx="91332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VS Code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4408" y="2853214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代码编辑器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90600" y="32385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2563EB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2990850" y="2190750"/>
            <a:ext cx="1809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3178492" y="2433161"/>
            <a:ext cx="151714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Python 3.10+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84208" y="285321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运行语言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200400" y="32385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15803D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5200650" y="2190750"/>
            <a:ext cx="1809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5388292" y="2433161"/>
            <a:ext cx="3819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Git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94008" y="285321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版本管理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10200" y="32385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0891B2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7410450" y="2190750"/>
            <a:ext cx="1809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598092" y="2433161"/>
            <a:ext cx="15413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GitHub / 云效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03808" y="285321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团队仓库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0" y="32385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C2410C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/>
          <p:cNvSpPr/>
          <p:nvPr/>
        </p:nvSpPr>
        <p:spPr>
          <a:xfrm>
            <a:off x="9620250" y="2190750"/>
            <a:ext cx="1809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9807892" y="2433161"/>
            <a:ext cx="100993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框架候选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13608" y="2853214"/>
            <a:ext cx="1282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小组讨论后确定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829800" y="32385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7C3AED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31"/>
          <p:cNvSpPr/>
          <p:nvPr/>
        </p:nvSpPr>
        <p:spPr>
          <a:xfrm>
            <a:off x="971550" y="4286250"/>
            <a:ext cx="10248900" cy="87630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1183005" y="44834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课堂检查命令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7290" y="4796790"/>
            <a:ext cx="55148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Consolas"/>
                <a:ea typeface="Microsoft YaHei"/>
                <a:cs typeface="Consolas"/>
              </a:rPr>
              <a:t>python --version git --version pip --version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15195" y="5561171"/>
            <a:ext cx="61616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框架安装命令在选型后确定；API 不通时先用模拟返回保证流程跑通。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框架选型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669583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框架不是预设答案，要讨论后选择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402669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选型目标：让本组在一周内做出能演示的结果。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框架选型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07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42950" y="2000250"/>
            <a:ext cx="10858500" cy="628650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877252" y="2246471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候选框架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15628" y="2246471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适合情况</a:t>
            </a:r>
          </a:p>
        </p:txBody>
      </p:sp>
      <p:sp>
        <p:nvSpPr>
          <p:cNvPr id="14" name="Line 14"/>
          <p:cNvSpPr/>
          <p:nvPr/>
        </p:nvSpPr>
        <p:spPr>
          <a:xfrm>
            <a:off x="2981325" y="20002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449502" y="2246471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选择提醒</a:t>
            </a:r>
          </a:p>
        </p:txBody>
      </p:sp>
      <p:sp>
        <p:nvSpPr>
          <p:cNvPr id="16" name="Line 16"/>
          <p:cNvSpPr/>
          <p:nvPr/>
        </p:nvSpPr>
        <p:spPr>
          <a:xfrm>
            <a:off x="7315200" y="20002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7"/>
          <p:cNvSpPr/>
          <p:nvPr/>
        </p:nvSpPr>
        <p:spPr>
          <a:xfrm>
            <a:off x="742950" y="2628900"/>
            <a:ext cx="10858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879158" y="2891314"/>
            <a:ext cx="86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Streamlit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17532" y="2891314"/>
            <a:ext cx="34332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Python 直接写页面，适合数据和 AI 小工具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1408" y="2891314"/>
            <a:ext cx="25316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最快成型，可作为安全默认方案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42950" y="3257550"/>
            <a:ext cx="10858500" cy="628650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879158" y="3519964"/>
            <a:ext cx="5768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Gradio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17532" y="3519964"/>
            <a:ext cx="22996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适合模型/LLM 输入输出演示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1408" y="3519964"/>
            <a:ext cx="28887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组件简单，复杂页面组织能力弱一些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42950" y="3886200"/>
            <a:ext cx="10858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879158" y="4148614"/>
            <a:ext cx="19604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Flask / FastAPI + HTML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17532" y="4148614"/>
            <a:ext cx="21746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想学习后端路由和接口基础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1408" y="4148614"/>
            <a:ext cx="25316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更工程化，但零基础开发量更大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42950" y="4514850"/>
            <a:ext cx="10858500" cy="628650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79158" y="4777264"/>
            <a:ext cx="207646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React / Vue / Next + API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17532" y="4777264"/>
            <a:ext cx="21746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有前端基础的小组可以挑战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51408" y="4777264"/>
            <a:ext cx="1635063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不</a:t>
            </a:r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建议作为零基础主线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666875" y="5334000"/>
            <a:ext cx="8858250" cy="514350"/>
          </a:xfrm>
          <a:prstGeom prst="roundRect">
            <a:avLst>
              <a:gd name="adj" fmla="val 14815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2526359" y="5504021"/>
            <a:ext cx="713928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讨论标准：组员基础、资料是否充足、1 天内能否跑通、是否适合本组选的功能。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一周路线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3828979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6/1 - 6/5 每日安排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452075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每天只盯一个主目标，PM 组织分工讨论并推动收口。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一周路线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08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47700" y="2266950"/>
            <a:ext cx="1952625" cy="2590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647700" y="2266950"/>
            <a:ext cx="1952625" cy="457200"/>
          </a:xfrm>
          <a:prstGeom prst="roundRect">
            <a:avLst>
              <a:gd name="adj" fmla="val 16667"/>
            </a:avLst>
          </a:prstGeom>
          <a:solidFill>
            <a:srgbClr val="2563EB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802005" y="2426018"/>
            <a:ext cx="7336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6/1 周一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290" y="29870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环境与角色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3910" y="35471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装基础工具，建仓库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3910" y="3851910"/>
            <a:ext cx="1307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拉起分工讨论</a:t>
            </a:r>
          </a:p>
        </p:txBody>
      </p:sp>
      <p:sp>
        <p:nvSpPr>
          <p:cNvPr id="17" name="Ellipse 17"/>
          <p:cNvSpPr/>
          <p:nvPr/>
        </p:nvSpPr>
        <p:spPr>
          <a:xfrm>
            <a:off x="1543050" y="518160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8"/>
          <p:cNvSpPr/>
          <p:nvPr/>
        </p:nvSpPr>
        <p:spPr>
          <a:xfrm>
            <a:off x="2933700" y="2266950"/>
            <a:ext cx="1952625" cy="2590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2933700" y="2266950"/>
            <a:ext cx="1952625" cy="457200"/>
          </a:xfrm>
          <a:prstGeom prst="roundRect">
            <a:avLst>
              <a:gd name="adj" fmla="val 16667"/>
            </a:avLst>
          </a:prstGeom>
          <a:solidFill>
            <a:srgbClr val="15803D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3088005" y="2426018"/>
            <a:ext cx="7809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6/2 周二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82290" y="29870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框架选型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89910" y="35471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比较候选框架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89910" y="3851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确认框架和侧重点</a:t>
            </a:r>
          </a:p>
        </p:txBody>
      </p:sp>
      <p:sp>
        <p:nvSpPr>
          <p:cNvPr id="24" name="Ellipse 24"/>
          <p:cNvSpPr/>
          <p:nvPr/>
        </p:nvSpPr>
        <p:spPr>
          <a:xfrm>
            <a:off x="3829050" y="5181600"/>
            <a:ext cx="152400" cy="1524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5"/>
          <p:cNvSpPr/>
          <p:nvPr/>
        </p:nvSpPr>
        <p:spPr>
          <a:xfrm>
            <a:off x="5219700" y="2266950"/>
            <a:ext cx="1952625" cy="2590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5219700" y="2266950"/>
            <a:ext cx="1952625" cy="457200"/>
          </a:xfrm>
          <a:prstGeom prst="roundRect">
            <a:avLst>
              <a:gd name="adj" fmla="val 16667"/>
            </a:avLst>
          </a:prstGeom>
          <a:solidFill>
            <a:srgbClr val="0891B2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5374005" y="2426018"/>
            <a:ext cx="7809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6/3 周三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68290" y="29870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小功能开发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75910" y="35471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每人承接一块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5910" y="3851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提示词或 API 跑通</a:t>
            </a:r>
          </a:p>
        </p:txBody>
      </p:sp>
      <p:sp>
        <p:nvSpPr>
          <p:cNvPr id="31" name="Ellipse 31"/>
          <p:cNvSpPr/>
          <p:nvPr/>
        </p:nvSpPr>
        <p:spPr>
          <a:xfrm>
            <a:off x="6115050" y="5181600"/>
            <a:ext cx="152400" cy="1524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32"/>
          <p:cNvSpPr/>
          <p:nvPr/>
        </p:nvSpPr>
        <p:spPr>
          <a:xfrm>
            <a:off x="7505700" y="2266950"/>
            <a:ext cx="1952625" cy="2590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3"/>
          <p:cNvSpPr/>
          <p:nvPr/>
        </p:nvSpPr>
        <p:spPr>
          <a:xfrm>
            <a:off x="7505700" y="2266950"/>
            <a:ext cx="1952625" cy="457200"/>
          </a:xfrm>
          <a:prstGeom prst="roundRect">
            <a:avLst>
              <a:gd name="adj" fmla="val 16667"/>
            </a:avLst>
          </a:prstGeom>
          <a:solidFill>
            <a:srgbClr val="C2410C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660005" y="2426018"/>
            <a:ext cx="7809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6/4 周四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54290" y="29870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集成与测试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61910" y="35471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合并功能到主页面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61910" y="3851910"/>
            <a:ext cx="1727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补 README 和测试清单</a:t>
            </a:r>
          </a:p>
        </p:txBody>
      </p:sp>
      <p:sp>
        <p:nvSpPr>
          <p:cNvPr id="38" name="Ellipse 38"/>
          <p:cNvSpPr/>
          <p:nvPr/>
        </p:nvSpPr>
        <p:spPr>
          <a:xfrm>
            <a:off x="8401050" y="5181600"/>
            <a:ext cx="152400" cy="1524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 39"/>
          <p:cNvSpPr/>
          <p:nvPr/>
        </p:nvSpPr>
        <p:spPr>
          <a:xfrm>
            <a:off x="9791700" y="2266950"/>
            <a:ext cx="1952625" cy="2590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40"/>
          <p:cNvSpPr/>
          <p:nvPr/>
        </p:nvSpPr>
        <p:spPr>
          <a:xfrm>
            <a:off x="9791700" y="2266950"/>
            <a:ext cx="1952625" cy="457200"/>
          </a:xfrm>
          <a:prstGeom prst="roundRect">
            <a:avLst>
              <a:gd name="adj" fmla="val 16667"/>
            </a:avLst>
          </a:prstGeom>
          <a:solidFill>
            <a:srgbClr val="B91C1C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9946005" y="2426018"/>
            <a:ext cx="7809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6/5 周五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40290" y="29870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演示与验收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947910" y="3547110"/>
            <a:ext cx="1307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组织演示顺序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47910" y="38519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每人说明贡献</a:t>
            </a:r>
          </a:p>
        </p:txBody>
      </p:sp>
      <p:sp>
        <p:nvSpPr>
          <p:cNvPr id="45" name="Ellipse 45"/>
          <p:cNvSpPr/>
          <p:nvPr/>
        </p:nvSpPr>
        <p:spPr>
          <a:xfrm>
            <a:off x="10687050" y="5181600"/>
            <a:ext cx="152400" cy="1524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6"/>
          <p:cNvSpPr/>
          <p:nvPr/>
        </p:nvSpPr>
        <p:spPr>
          <a:xfrm>
            <a:off x="1619250" y="52578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角色讨论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60783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PM 固定，其他成员讨论侧重点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500531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AI 开发默认人人都是全栈工程师，只是本周主攻方向不同。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角色讨论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5961" y="64779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09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19150" y="2095500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819150" y="2095500"/>
            <a:ext cx="66675" cy="1619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026795" y="2298382"/>
            <a:ext cx="17977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班级 PM（固定）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510" y="26898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拉齐成员讨论分工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2937510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维护任务板和每日目标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2510" y="3185160"/>
            <a:ext cx="18535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组织 Review 与最终演示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19850" y="2095500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8"/>
          <p:cNvSpPr/>
          <p:nvPr/>
        </p:nvSpPr>
        <p:spPr>
          <a:xfrm>
            <a:off x="6419850" y="2095500"/>
            <a:ext cx="66675" cy="161925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627495" y="229838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页面与集成侧重点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33210" y="2689860"/>
            <a:ext cx="14502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搭 Web 入口和菜单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33210" y="29375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把各小工具拼到一起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33210" y="31851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保证 Demo 能打开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191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24"/>
          <p:cNvSpPr/>
          <p:nvPr/>
        </p:nvSpPr>
        <p:spPr>
          <a:xfrm>
            <a:off x="819150" y="409575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026795" y="4298632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功能开发侧重点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2510" y="4690110"/>
            <a:ext cx="14502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负责一个 AI 小工具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2510" y="493776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定义输入输出和边界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2510" y="51854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能讲清楚实现方式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4767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4476750" y="409575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4684395" y="4298632"/>
            <a:ext cx="20865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提示词 / API 侧重点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90110" y="4690110"/>
            <a:ext cx="15594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设计 prompt 和示例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90110" y="49377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接模型或模拟返回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90110" y="51854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整理提示词集合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343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6"/>
          <p:cNvSpPr/>
          <p:nvPr/>
        </p:nvSpPr>
        <p:spPr>
          <a:xfrm>
            <a:off x="8134350" y="409575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8341995" y="4298632"/>
            <a:ext cx="26525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测试 / 文档 / 演示侧重点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47710" y="4690110"/>
            <a:ext cx="1727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写 README 和验收清单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47710" y="49377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准备演示话术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47710" y="51854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记录已知问题</a:t>
            </a:r>
          </a:p>
        </p:txBody>
      </p:sp>
      <p:sp>
        <p:nvSpPr>
          <p:cNvPr id="41" name="Rectangle 41"/>
          <p:cNvSpPr/>
          <p:nvPr/>
        </p:nvSpPr>
        <p:spPr>
          <a:xfrm>
            <a:off x="1619250" y="5753100"/>
            <a:ext cx="8953500" cy="400050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3315510" y="5864542"/>
            <a:ext cx="55609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分工不是边界：每个人都要能看懂代码、提交 Git、参与调试和演示。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任务池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314534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Mini-task 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402669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每个任务都要有负责人，也要有可检查的结果。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任务池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50965" y="64779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04850" y="1847850"/>
            <a:ext cx="10858500" cy="466725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821055" y="20164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方向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40305" y="20164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14" name="Line 14"/>
          <p:cNvSpPr/>
          <p:nvPr/>
        </p:nvSpPr>
        <p:spPr>
          <a:xfrm>
            <a:off x="2324100" y="1847850"/>
            <a:ext cx="9525" cy="4200525"/>
          </a:xfrm>
          <a:custGeom>
            <a:avLst/>
            <a:gdLst/>
            <a:ahLst/>
            <a:cxnLst/>
            <a:rect l="l" t="t" r="r" b="b"/>
            <a:pathLst>
              <a:path w="9525" h="4200525">
                <a:moveTo>
                  <a:pt x="0" y="0"/>
                </a:moveTo>
                <a:lnTo>
                  <a:pt x="0" y="4200525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8536305" y="20164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判断标准</a:t>
            </a:r>
          </a:p>
        </p:txBody>
      </p:sp>
      <p:sp>
        <p:nvSpPr>
          <p:cNvPr id="16" name="Line 16"/>
          <p:cNvSpPr/>
          <p:nvPr/>
        </p:nvSpPr>
        <p:spPr>
          <a:xfrm>
            <a:off x="8420100" y="1847850"/>
            <a:ext cx="9525" cy="4200525"/>
          </a:xfrm>
          <a:custGeom>
            <a:avLst/>
            <a:gdLst/>
            <a:ahLst/>
            <a:cxnLst/>
            <a:rect l="l" t="t" r="r" b="b"/>
            <a:pathLst>
              <a:path w="9525" h="4200525">
                <a:moveTo>
                  <a:pt x="0" y="0"/>
                </a:moveTo>
                <a:lnTo>
                  <a:pt x="0" y="4200525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7"/>
          <p:cNvSpPr/>
          <p:nvPr/>
        </p:nvSpPr>
        <p:spPr>
          <a:xfrm>
            <a:off x="704850" y="2314575"/>
            <a:ext cx="108585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822960" y="248983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角色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42210" y="2489835"/>
            <a:ext cx="31556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PM 组织分工讨论，成员确认自己的侧重点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38210" y="2489835"/>
            <a:ext cx="23995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任务板或 README 中能看到分工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04850" y="2781300"/>
            <a:ext cx="10858500" cy="46672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822960" y="29565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环境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42210" y="2956560"/>
            <a:ext cx="2197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安装 VS Code / Python / Git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38210" y="2956560"/>
            <a:ext cx="20467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能截图或现场展示版本命令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04850" y="3248025"/>
            <a:ext cx="108585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822960" y="34232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框架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42210" y="3423285"/>
            <a:ext cx="22147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讨论候选框架并记录选择理由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38210" y="3423285"/>
            <a:ext cx="23827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有 1 页选型说明或 README 小节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04850" y="3714750"/>
            <a:ext cx="10858500" cy="46672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22960" y="3890010"/>
            <a:ext cx="265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Git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42210" y="3890010"/>
            <a:ext cx="24583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clone、branch、commit、push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38210" y="389001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每人至少 1 次有效提交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04850" y="4181475"/>
            <a:ext cx="108585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822960" y="435673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页面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42210" y="4356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搭选定框架的菜单和首页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38210" y="43567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本地能打开网页入口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04850" y="4648200"/>
            <a:ext cx="10858500" cy="46672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822960" y="48234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功能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442210" y="4823460"/>
            <a:ext cx="1433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完成 1 个 AI 小工具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38210" y="482346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输入后有可解释输出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04850" y="5114925"/>
            <a:ext cx="108585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822960" y="52901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集成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42210" y="529018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合并 1-2 个工具到主页面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38210" y="5290185"/>
            <a:ext cx="18283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Demo 不报错，入口清楚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04850" y="5581650"/>
            <a:ext cx="10858500" cy="46672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822960" y="57569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文档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442210" y="5756910"/>
            <a:ext cx="14838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README + 演示话术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38210" y="5756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别人能按说明运行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工作节奏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354229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每日 Review 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395068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主持节奏，成员同步自己的侧重点和卡点。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工作节奏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85969" y="6477952"/>
            <a:ext cx="390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214312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857250" y="2143125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081088" y="2340769"/>
            <a:ext cx="179346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10:00 Standup</a:t>
            </a:r>
          </a:p>
        </p:txBody>
      </p:sp>
      <p:sp>
        <p:nvSpPr>
          <p:cNvPr id="14" name="Ellipse 14"/>
          <p:cNvSpPr/>
          <p:nvPr/>
        </p:nvSpPr>
        <p:spPr>
          <a:xfrm>
            <a:off x="1122045" y="27984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371600" y="2743200"/>
            <a:ext cx="15582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轮询每个成员</a:t>
            </a:r>
          </a:p>
        </p:txBody>
      </p:sp>
      <p:sp>
        <p:nvSpPr>
          <p:cNvPr id="16" name="Ellipse 16"/>
          <p:cNvSpPr/>
          <p:nvPr/>
        </p:nvSpPr>
        <p:spPr>
          <a:xfrm>
            <a:off x="1122045" y="31413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371600" y="3086100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昨天完成了什么</a:t>
            </a:r>
          </a:p>
        </p:txBody>
      </p:sp>
      <p:sp>
        <p:nvSpPr>
          <p:cNvPr id="18" name="Ellipse 18"/>
          <p:cNvSpPr/>
          <p:nvPr/>
        </p:nvSpPr>
        <p:spPr>
          <a:xfrm>
            <a:off x="1122045" y="34842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371600" y="3429000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今天主攻哪一块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24375" y="214312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4524375" y="2143125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4748212" y="2340769"/>
            <a:ext cx="183284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15:00 答疑窗口</a:t>
            </a:r>
          </a:p>
        </p:txBody>
      </p:sp>
      <p:sp>
        <p:nvSpPr>
          <p:cNvPr id="23" name="Ellipse 23"/>
          <p:cNvSpPr/>
          <p:nvPr/>
        </p:nvSpPr>
        <p:spPr>
          <a:xfrm>
            <a:off x="4789170" y="2798445"/>
            <a:ext cx="80010" cy="8001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5038725" y="2743200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集中处理环境问题</a:t>
            </a:r>
          </a:p>
        </p:txBody>
      </p:sp>
      <p:sp>
        <p:nvSpPr>
          <p:cNvPr id="25" name="Ellipse 25"/>
          <p:cNvSpPr/>
          <p:nvPr/>
        </p:nvSpPr>
        <p:spPr>
          <a:xfrm>
            <a:off x="4789170" y="3141345"/>
            <a:ext cx="80010" cy="8001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5038725" y="3086100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框架和分工及时收口</a:t>
            </a:r>
          </a:p>
        </p:txBody>
      </p:sp>
      <p:sp>
        <p:nvSpPr>
          <p:cNvPr id="27" name="Ellipse 27"/>
          <p:cNvSpPr/>
          <p:nvPr/>
        </p:nvSpPr>
        <p:spPr>
          <a:xfrm>
            <a:off x="4789170" y="3484245"/>
            <a:ext cx="80010" cy="8001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5038725" y="3429000"/>
            <a:ext cx="15782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Git 冲突现场解决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214312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8191500" y="2143125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415338" y="2340769"/>
            <a:ext cx="163594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17:00 Review</a:t>
            </a:r>
          </a:p>
        </p:txBody>
      </p:sp>
      <p:sp>
        <p:nvSpPr>
          <p:cNvPr id="32" name="Ellipse 32"/>
          <p:cNvSpPr/>
          <p:nvPr/>
        </p:nvSpPr>
        <p:spPr>
          <a:xfrm>
            <a:off x="8456295" y="27984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705850" y="2743200"/>
            <a:ext cx="13582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看当天产物</a:t>
            </a:r>
          </a:p>
        </p:txBody>
      </p:sp>
      <p:sp>
        <p:nvSpPr>
          <p:cNvPr id="34" name="Ellipse 34"/>
          <p:cNvSpPr/>
          <p:nvPr/>
        </p:nvSpPr>
        <p:spPr>
          <a:xfrm>
            <a:off x="8456295" y="31413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8705850" y="3086100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确认明天负责人</a:t>
            </a:r>
          </a:p>
        </p:txBody>
      </p:sp>
      <p:sp>
        <p:nvSpPr>
          <p:cNvPr id="36" name="Ellipse 36"/>
          <p:cNvSpPr/>
          <p:nvPr/>
        </p:nvSpPr>
        <p:spPr>
          <a:xfrm>
            <a:off x="8456295" y="34842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8705850" y="3429000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同步风险和求助事项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428750" y="5095875"/>
            <a:ext cx="9334500" cy="53340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2371134" y="5268754"/>
            <a:ext cx="744973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原则：PM 负责拉齐，不负责替所有人做；每个成员都要交付自己的小闭环。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验收门槛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226323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6/5 看什么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383667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验收关注学习闭环、协作过程和可运行成果。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验收门槛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50965" y="64779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19150" y="2095500"/>
            <a:ext cx="4953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819150" y="2095500"/>
            <a:ext cx="66675" cy="2667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042988" y="2293144"/>
            <a:ext cx="2147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基础线：必须完成</a:t>
            </a:r>
          </a:p>
        </p:txBody>
      </p:sp>
      <p:sp>
        <p:nvSpPr>
          <p:cNvPr id="14" name="Ellipse 14"/>
          <p:cNvSpPr/>
          <p:nvPr/>
        </p:nvSpPr>
        <p:spPr>
          <a:xfrm>
            <a:off x="1083945" y="2750820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334452" y="2703671"/>
            <a:ext cx="167039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能说明组内分工</a:t>
            </a:r>
          </a:p>
        </p:txBody>
      </p:sp>
      <p:sp>
        <p:nvSpPr>
          <p:cNvPr id="16" name="Ellipse 16"/>
          <p:cNvSpPr/>
          <p:nvPr/>
        </p:nvSpPr>
        <p:spPr>
          <a:xfrm>
            <a:off x="1083945" y="304609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334452" y="2998946"/>
            <a:ext cx="13663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仓库链接可访问</a:t>
            </a:r>
          </a:p>
        </p:txBody>
      </p:sp>
      <p:sp>
        <p:nvSpPr>
          <p:cNvPr id="18" name="Ellipse 18"/>
          <p:cNvSpPr/>
          <p:nvPr/>
        </p:nvSpPr>
        <p:spPr>
          <a:xfrm>
            <a:off x="1083945" y="3341370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334452" y="3294221"/>
            <a:ext cx="16894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Demo 可以本地运行</a:t>
            </a:r>
          </a:p>
        </p:txBody>
      </p:sp>
      <p:sp>
        <p:nvSpPr>
          <p:cNvPr id="20" name="Ellipse 20"/>
          <p:cNvSpPr/>
          <p:nvPr/>
        </p:nvSpPr>
        <p:spPr>
          <a:xfrm>
            <a:off x="1083945" y="36366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334452" y="3589496"/>
            <a:ext cx="191743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至少 1 个功能完整闭环</a:t>
            </a:r>
          </a:p>
        </p:txBody>
      </p:sp>
      <p:sp>
        <p:nvSpPr>
          <p:cNvPr id="22" name="Ellipse 22"/>
          <p:cNvSpPr/>
          <p:nvPr/>
        </p:nvSpPr>
        <p:spPr>
          <a:xfrm>
            <a:off x="1083945" y="3931920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1334452" y="3884771"/>
            <a:ext cx="1936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每人能说明自己的贡献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19850" y="2095500"/>
            <a:ext cx="4953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5"/>
          <p:cNvSpPr/>
          <p:nvPr/>
        </p:nvSpPr>
        <p:spPr>
          <a:xfrm>
            <a:off x="6419850" y="2095500"/>
            <a:ext cx="66675" cy="26670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6643688" y="2293144"/>
            <a:ext cx="2147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目标线：尽量争取</a:t>
            </a:r>
          </a:p>
        </p:txBody>
      </p:sp>
      <p:sp>
        <p:nvSpPr>
          <p:cNvPr id="27" name="Ellipse 27"/>
          <p:cNvSpPr/>
          <p:nvPr/>
        </p:nvSpPr>
        <p:spPr>
          <a:xfrm>
            <a:off x="6684645" y="2750820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6935152" y="2703671"/>
            <a:ext cx="155638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说明框架选择理由</a:t>
            </a:r>
          </a:p>
        </p:txBody>
      </p:sp>
      <p:sp>
        <p:nvSpPr>
          <p:cNvPr id="29" name="Ellipse 29"/>
          <p:cNvSpPr/>
          <p:nvPr/>
        </p:nvSpPr>
        <p:spPr>
          <a:xfrm>
            <a:off x="6684645" y="304609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6935152" y="2998946"/>
            <a:ext cx="211695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2-3 个小工具集成到首页</a:t>
            </a:r>
          </a:p>
        </p:txBody>
      </p:sp>
      <p:sp>
        <p:nvSpPr>
          <p:cNvPr id="31" name="Ellipse 31"/>
          <p:cNvSpPr/>
          <p:nvPr/>
        </p:nvSpPr>
        <p:spPr>
          <a:xfrm>
            <a:off x="6684645" y="3341370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935152" y="3294221"/>
            <a:ext cx="1936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有测试清单和已知问题</a:t>
            </a:r>
          </a:p>
        </p:txBody>
      </p:sp>
      <p:sp>
        <p:nvSpPr>
          <p:cNvPr id="33" name="Ellipse 33"/>
          <p:cNvSpPr/>
          <p:nvPr/>
        </p:nvSpPr>
        <p:spPr>
          <a:xfrm>
            <a:off x="6684645" y="36366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935152" y="3589496"/>
            <a:ext cx="155638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演示时能说明取舍</a:t>
            </a:r>
          </a:p>
        </p:txBody>
      </p:sp>
      <p:sp>
        <p:nvSpPr>
          <p:cNvPr id="35" name="Ellipse 35"/>
          <p:cNvSpPr/>
          <p:nvPr/>
        </p:nvSpPr>
        <p:spPr>
          <a:xfrm>
            <a:off x="6684645" y="3931920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6935152" y="3884771"/>
            <a:ext cx="155638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提示词集合可复用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80726" y="5457825"/>
            <a:ext cx="76305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AI 开发不是只做单一岗位：每个人都要参与需求、实现、测试和演示中的一部分。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风险与支持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404950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常见问题提前说清楚</a:t>
            </a:r>
          </a:p>
        </p:txBody>
      </p:sp>
      <p:sp>
        <p:nvSpPr>
          <p:cNvPr id="7" name="Line 7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615315" y="647795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风险与支持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50965" y="64779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52625"/>
            <a:ext cx="10858500" cy="561975"/>
          </a:xfrm>
          <a:prstGeom prst="rect">
            <a:avLst/>
          </a:prstGeom>
          <a:solidFill>
            <a:srgbClr val="EAF2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96302" y="2160746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常见风险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53802" y="2160746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可能影响</a:t>
            </a:r>
          </a:p>
        </p:txBody>
      </p:sp>
      <p:sp>
        <p:nvSpPr>
          <p:cNvPr id="13" name="Line 13"/>
          <p:cNvSpPr/>
          <p:nvPr/>
        </p:nvSpPr>
        <p:spPr>
          <a:xfrm>
            <a:off x="3619500" y="1952625"/>
            <a:ext cx="9525" cy="3933825"/>
          </a:xfrm>
          <a:custGeom>
            <a:avLst/>
            <a:gdLst/>
            <a:ahLst/>
            <a:cxnLst/>
            <a:rect l="l" t="t" r="r" b="b"/>
            <a:pathLst>
              <a:path w="9525" h="3933825">
                <a:moveTo>
                  <a:pt x="0" y="0"/>
                </a:moveTo>
                <a:lnTo>
                  <a:pt x="0" y="3933825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468552" y="2160746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83B70"/>
                </a:solidFill>
                <a:latin typeface="Arial"/>
                <a:ea typeface="Microsoft YaHei"/>
                <a:cs typeface="Arial"/>
              </a:rPr>
              <a:t>处理方式</a:t>
            </a:r>
          </a:p>
        </p:txBody>
      </p:sp>
      <p:sp>
        <p:nvSpPr>
          <p:cNvPr id="15" name="Line 15"/>
          <p:cNvSpPr/>
          <p:nvPr/>
        </p:nvSpPr>
        <p:spPr>
          <a:xfrm>
            <a:off x="7334250" y="1952625"/>
            <a:ext cx="9525" cy="3933825"/>
          </a:xfrm>
          <a:custGeom>
            <a:avLst/>
            <a:gdLst/>
            <a:ahLst/>
            <a:cxnLst/>
            <a:rect l="l" t="t" r="r" b="b"/>
            <a:pathLst>
              <a:path w="9525" h="3933825">
                <a:moveTo>
                  <a:pt x="0" y="0"/>
                </a:moveTo>
                <a:lnTo>
                  <a:pt x="0" y="3933825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762000" y="2514600"/>
            <a:ext cx="10858500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898208" y="273891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环境安装失败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55708" y="2738914"/>
            <a:ext cx="1282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第一天进度卡住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70458" y="2738914"/>
            <a:ext cx="32457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优先集中排查，必要时使用统一模板环境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076575"/>
            <a:ext cx="10858500" cy="5619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98208" y="33008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框架讨论过久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55708" y="3300889"/>
            <a:ext cx="1282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第二天没有产出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70458" y="3300889"/>
            <a:ext cx="27102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限时比较，默认选最容易跑通方案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3638550"/>
            <a:ext cx="10858500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98208" y="3862864"/>
            <a:ext cx="8714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Git 不会用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55708" y="386286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代码合并困难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70458" y="3862864"/>
            <a:ext cx="30761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先教 clone / commit / push 三个动作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4200525"/>
            <a:ext cx="10858500" cy="5619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898208" y="4424839"/>
            <a:ext cx="15855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API 不通或额度不足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55708" y="4424839"/>
            <a:ext cx="13088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AI 功能无法返回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70458" y="4424839"/>
            <a:ext cx="27102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先用模拟返回，保留输入输出流程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762500"/>
            <a:ext cx="10858500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98208" y="4986814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功能选太大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55708" y="498681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周五无法演示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70458" y="4986814"/>
            <a:ext cx="181760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每个功能只做最小版本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5324475"/>
            <a:ext cx="10858500" cy="5619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898208" y="55487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2410C"/>
                </a:solidFill>
                <a:latin typeface="Arial"/>
                <a:ea typeface="Microsoft YaHei"/>
                <a:cs typeface="Arial"/>
              </a:rPr>
              <a:t>团队分工不清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55708" y="554878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有人无产出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70458" y="5548789"/>
            <a:ext cx="26834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每天 Review 时明确下一步负责人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9429750" y="-857250"/>
            <a:ext cx="3238500" cy="3238500"/>
          </a:xfrm>
          <a:prstGeom prst="ellipse">
            <a:avLst/>
          </a:prstGeom>
          <a:solidFill>
            <a:srgbClr val="2563EB">
              <a:alpha val="45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1505" y="5591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今天开始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645" y="879158"/>
            <a:ext cx="259402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6/1 启动动作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2" y="1427321"/>
            <a:ext cx="514783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今天的目标是让 PM 拉起讨论，让每个人明确自己的第一步。</a:t>
            </a:r>
          </a:p>
        </p:txBody>
      </p:sp>
      <p:sp>
        <p:nvSpPr>
          <p:cNvPr id="8" name="Line 8"/>
          <p:cNvSpPr/>
          <p:nvPr/>
        </p:nvSpPr>
        <p:spPr>
          <a:xfrm>
            <a:off x="628650" y="6305550"/>
            <a:ext cx="10934700" cy="9525"/>
          </a:xfrm>
          <a:custGeom>
            <a:avLst/>
            <a:gdLst/>
            <a:ahLst/>
            <a:cxnLst/>
            <a:rect l="l" t="t" r="r" b="b"/>
            <a:pathLst>
              <a:path w="10934700" h="9525">
                <a:moveTo>
                  <a:pt x="0" y="0"/>
                </a:moveTo>
                <a:lnTo>
                  <a:pt x="10934700" y="0"/>
                </a:lnTo>
              </a:path>
            </a:pathLst>
          </a:custGeom>
          <a:noFill/>
          <a:ln w="952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15315" y="64779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今天开始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50965" y="64779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14 / 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19150" y="1952625"/>
            <a:ext cx="3190875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819150" y="1952625"/>
            <a:ext cx="66675" cy="2857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042988" y="2150269"/>
            <a:ext cx="107150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 1 小时</a:t>
            </a:r>
          </a:p>
        </p:txBody>
      </p:sp>
      <p:sp>
        <p:nvSpPr>
          <p:cNvPr id="14" name="Ellipse 14"/>
          <p:cNvSpPr/>
          <p:nvPr/>
        </p:nvSpPr>
        <p:spPr>
          <a:xfrm>
            <a:off x="1083945" y="26079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334452" y="2560796"/>
            <a:ext cx="110032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确认班级 PM</a:t>
            </a:r>
          </a:p>
        </p:txBody>
      </p:sp>
      <p:sp>
        <p:nvSpPr>
          <p:cNvPr id="16" name="Ellipse 16"/>
          <p:cNvSpPr/>
          <p:nvPr/>
        </p:nvSpPr>
        <p:spPr>
          <a:xfrm>
            <a:off x="1083945" y="29127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334452" y="2865596"/>
            <a:ext cx="174640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确认分组和联系方式</a:t>
            </a:r>
          </a:p>
        </p:txBody>
      </p:sp>
      <p:sp>
        <p:nvSpPr>
          <p:cNvPr id="18" name="Ellipse 18"/>
          <p:cNvSpPr/>
          <p:nvPr/>
        </p:nvSpPr>
        <p:spPr>
          <a:xfrm>
            <a:off x="1083945" y="3217545"/>
            <a:ext cx="80010" cy="8001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334452" y="3170396"/>
            <a:ext cx="200294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检查 VS Code / Python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495800" y="1952625"/>
            <a:ext cx="3190875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4495800" y="1952625"/>
            <a:ext cx="66675" cy="28575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4719638" y="2150269"/>
            <a:ext cx="113713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第 2 小时</a:t>
            </a:r>
          </a:p>
        </p:txBody>
      </p:sp>
      <p:sp>
        <p:nvSpPr>
          <p:cNvPr id="23" name="Ellipse 23"/>
          <p:cNvSpPr/>
          <p:nvPr/>
        </p:nvSpPr>
        <p:spPr>
          <a:xfrm>
            <a:off x="4760595" y="26079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5011102" y="2560796"/>
            <a:ext cx="129035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PM 拉分工讨论</a:t>
            </a:r>
          </a:p>
        </p:txBody>
      </p:sp>
      <p:sp>
        <p:nvSpPr>
          <p:cNvPr id="25" name="Ellipse 25"/>
          <p:cNvSpPr/>
          <p:nvPr/>
        </p:nvSpPr>
        <p:spPr>
          <a:xfrm>
            <a:off x="4760595" y="29127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5011102" y="2865596"/>
            <a:ext cx="13663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加入或创建仓库</a:t>
            </a:r>
          </a:p>
        </p:txBody>
      </p:sp>
      <p:sp>
        <p:nvSpPr>
          <p:cNvPr id="27" name="Ellipse 27"/>
          <p:cNvSpPr/>
          <p:nvPr/>
        </p:nvSpPr>
        <p:spPr>
          <a:xfrm>
            <a:off x="4760595" y="3217545"/>
            <a:ext cx="80010" cy="8001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5011102" y="3170396"/>
            <a:ext cx="155638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每人完成一次提交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72450" y="1952625"/>
            <a:ext cx="3190875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335">
            <a:solidFill>
              <a:srgbClr val="D7DE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8172450" y="1952625"/>
            <a:ext cx="66675" cy="28575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396288" y="2150269"/>
            <a:ext cx="83522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下午前</a:t>
            </a:r>
          </a:p>
        </p:txBody>
      </p:sp>
      <p:sp>
        <p:nvSpPr>
          <p:cNvPr id="32" name="Ellipse 32"/>
          <p:cNvSpPr/>
          <p:nvPr/>
        </p:nvSpPr>
        <p:spPr>
          <a:xfrm>
            <a:off x="8437245" y="2607945"/>
            <a:ext cx="80010" cy="8001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687752" y="2560796"/>
            <a:ext cx="117633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列出候选框架</a:t>
            </a:r>
          </a:p>
        </p:txBody>
      </p:sp>
      <p:sp>
        <p:nvSpPr>
          <p:cNvPr id="34" name="Ellipse 34"/>
          <p:cNvSpPr/>
          <p:nvPr/>
        </p:nvSpPr>
        <p:spPr>
          <a:xfrm>
            <a:off x="8437245" y="2912745"/>
            <a:ext cx="80010" cy="8001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8687752" y="2865596"/>
            <a:ext cx="174640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每人认领一个侧重点</a:t>
            </a:r>
          </a:p>
        </p:txBody>
      </p:sp>
      <p:sp>
        <p:nvSpPr>
          <p:cNvPr id="36" name="Ellipse 36"/>
          <p:cNvSpPr/>
          <p:nvPr/>
        </p:nvSpPr>
        <p:spPr>
          <a:xfrm>
            <a:off x="8437245" y="3217545"/>
            <a:ext cx="80010" cy="8001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8687752" y="3170396"/>
            <a:ext cx="153738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记录当天 blocker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066800" y="5381625"/>
            <a:ext cx="10058400" cy="53340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2547556" y="5554504"/>
            <a:ext cx="709688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今天结束前：PM 给出分工记录，每人有侧重点、仓库提交、框架候选清单。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1461</Words>
  <Application>Microsoft Office PowerPoint</Application>
  <PresentationFormat>宽屏</PresentationFormat>
  <Paragraphs>278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Aegis</cp:lastModifiedBy>
  <cp:revision>2</cp:revision>
  <dcterms:created xsi:type="dcterms:W3CDTF">2013-01-27T09:14:16Z</dcterms:created>
  <dcterms:modified xsi:type="dcterms:W3CDTF">2026-06-01T05:24:45Z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2026-06-01T05:24:45Z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9edba7f8-208a-465c-8381-6ac7c5758eb6</vt:lpwstr>
  </property>
  <property fmtid="{D5CDD505-2E9C-101B-9397-08002B2CF9AE}" pid="7" name="MSIP_Label_defa4170-0d19-0005-0004-bc88714345d2_ActionId">
    <vt:lpwstr>c1745ed5-1f48-4ba6-beba-3310bee91d44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